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55be402af04fc9" /><Relationship Type="http://schemas.openxmlformats.org/officeDocument/2006/relationships/extended-properties" Target="/docProps/app.xml" Id="R75354b64c0324afc" /><Relationship Type="http://schemas.openxmlformats.org/officeDocument/2006/relationships/officeDocument" Target="/ppt/presentation.xml" Id="R9225bb19166c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879f29fdb342d1"/>
  </p:sldMasterIdLst>
  <p:notesMasterIdLst>
    <p:notesMasterId xmlns:r="http://schemas.openxmlformats.org/officeDocument/2006/relationships" r:id="R2c63c90cab884e70"/>
  </p:notesMasterIdLst>
  <p:sldIdLst>
    <p:sldId xmlns:r="http://schemas.openxmlformats.org/officeDocument/2006/relationships" id="256" r:id="R54f395224690437f"/>
    <p:sldId xmlns:r="http://schemas.openxmlformats.org/officeDocument/2006/relationships" id="257" r:id="R0bd16a8a0f1e4598"/>
    <p:sldId xmlns:r="http://schemas.openxmlformats.org/officeDocument/2006/relationships" id="258" r:id="R3001b94e3e2245af"/>
    <p:sldId xmlns:r="http://schemas.openxmlformats.org/officeDocument/2006/relationships" id="259" r:id="R2ac9e9dddd4e42ba"/>
    <p:sldId xmlns:r="http://schemas.openxmlformats.org/officeDocument/2006/relationships" id="260" r:id="Rc8d6e1e65f0b4a2f"/>
    <p:sldId xmlns:r="http://schemas.openxmlformats.org/officeDocument/2006/relationships" id="261" r:id="Rffc2b0fa33234fbf"/>
    <p:sldId xmlns:r="http://schemas.openxmlformats.org/officeDocument/2006/relationships" id="262" r:id="Re11a1f486c2a4941"/>
    <p:sldId xmlns:r="http://schemas.openxmlformats.org/officeDocument/2006/relationships" id="263" r:id="R12b2cef8445444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15b1e1f9be436e" /><Relationship Type="http://schemas.openxmlformats.org/officeDocument/2006/relationships/slideMaster" Target="/ppt/slideMasters/slideMaster1.xml" Id="R60879f29fdb342d1" /><Relationship Type="http://schemas.openxmlformats.org/officeDocument/2006/relationships/notesMaster" Target="/ppt/notesMasters/notesMaster1.xml" Id="R2c63c90cab884e70" /><Relationship Type="http://schemas.openxmlformats.org/officeDocument/2006/relationships/presProps" Target="/ppt/presProps.xml" Id="R114879a4e39446d7" /><Relationship Type="http://schemas.openxmlformats.org/officeDocument/2006/relationships/tableStyles" Target="/ppt/tableStyles.xml" Id="Rb386e4d2f71d4685" /><Relationship Type="http://schemas.openxmlformats.org/officeDocument/2006/relationships/slide" Target="/ppt/slides/slide1.xml" Id="R54f395224690437f" /><Relationship Type="http://schemas.openxmlformats.org/officeDocument/2006/relationships/slide" Target="/ppt/slides/slide2.xml" Id="R0bd16a8a0f1e4598" /><Relationship Type="http://schemas.openxmlformats.org/officeDocument/2006/relationships/slide" Target="/ppt/slides/slide3.xml" Id="R3001b94e3e2245af" /><Relationship Type="http://schemas.openxmlformats.org/officeDocument/2006/relationships/slide" Target="/ppt/slides/slide4.xml" Id="R2ac9e9dddd4e42ba" /><Relationship Type="http://schemas.openxmlformats.org/officeDocument/2006/relationships/slide" Target="/ppt/slides/slide5.xml" Id="Rc8d6e1e65f0b4a2f" /><Relationship Type="http://schemas.openxmlformats.org/officeDocument/2006/relationships/slide" Target="/ppt/slides/slide6.xml" Id="Rffc2b0fa33234fbf" /><Relationship Type="http://schemas.openxmlformats.org/officeDocument/2006/relationships/slide" Target="/ppt/slides/slide7.xml" Id="Re11a1f486c2a4941" /><Relationship Type="http://schemas.openxmlformats.org/officeDocument/2006/relationships/slide" Target="/ppt/slides/slide8.xml" Id="R12b2cef8445444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9efe66f0a347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bd36a4c5f442fd" /><Relationship Type="http://schemas.openxmlformats.org/officeDocument/2006/relationships/notesMaster" Target="/ppt/notesMasters/notesMaster1.xml" Id="Reba81d3ac85b48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b2f4ec76b04664" /><Relationship Type="http://schemas.openxmlformats.org/officeDocument/2006/relationships/notesMaster" Target="/ppt/notesMasters/notesMaster1.xml" Id="R71b10b9274ea45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f5245ef6fe46d7" /><Relationship Type="http://schemas.openxmlformats.org/officeDocument/2006/relationships/notesMaster" Target="/ppt/notesMasters/notesMaster1.xml" Id="Rbee722a0488548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50a161486144a30" /><Relationship Type="http://schemas.openxmlformats.org/officeDocument/2006/relationships/notesMaster" Target="/ppt/notesMasters/notesMaster1.xml" Id="Ra5d4655b984142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0725788849420d" /><Relationship Type="http://schemas.openxmlformats.org/officeDocument/2006/relationships/notesMaster" Target="/ppt/notesMasters/notesMaster1.xml" Id="Rbc4e0eb594644b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1ea48cebbf4986" /><Relationship Type="http://schemas.openxmlformats.org/officeDocument/2006/relationships/notesMaster" Target="/ppt/notesMasters/notesMaster1.xml" Id="Rb2153dcab9c64c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af1ed66ce0a42de" /><Relationship Type="http://schemas.openxmlformats.org/officeDocument/2006/relationships/notesMaster" Target="/ppt/notesMasters/notesMaster1.xml" Id="R1e48d4087a4c4f5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e4dcc8f55040ff" /><Relationship Type="http://schemas.openxmlformats.org/officeDocument/2006/relationships/notesMaster" Target="/ppt/notesMasters/notesMaster1.xml" Id="R9532118b78a945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今天展示的是已经接入真实单元数据的仿真软件。我们可以输入文字，保存一次接收观测，再改变接收参数进行对照。这里的真实数据来自单个周期硅柱的FDTD计算。整片三层传播仍是近似模型，今天不把它说成完整器件的全波复现。建议用时25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数据依据：data/cases.json；data/source_manifest.json；既有导师汇报_20261023/成品/TriKey仿真导师交流_仿真版.pptx的主题与画幅。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流程。偏振是电场的振动方向，第二层转角同时改变单元位置和偏振响应方向。层间距从第二层入口面量到第三层入口面。默认6毫米包含前层1毫米厚度，真正空气间隙是5毫米。发送后保存同一份双偏振复电场，接收过程只用这份观测和候选参数。CRC是检查传输错误的校验码，不能证明安全。建议用时35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数据依据：assets/thz-engine.js；data/cases.json/config；data/observations/ECNU.json。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一根60乘75微米的硅柱。周期为110微米，柱高和剩余有限基底各500微米。这些是文献借用及明确假设的参数。右图是FDTD真实保存的xz截面场强度，横纵轴是空间位置，不是尺寸扫描坐标。库里归档27种几何、54条偏振响应，当前三层设计使用原25种。透射不是全部等于1，振幅和相位都进入后续传播。建议用时40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数据依据：data/cases.json/device；data/units/L60_W75_x.json、L60_W75_y.json；figures/field_xz_x.png；其来源NPZ见图内标注及data/source_manifest.json。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六幅图是实际优化设计C的三层几何。上排显示柱长，下排显示柱宽，每格都能在真实库里找到对应单元，同一个几何同时决定两种偏振。Jones矩阵就是描述两个偏振分量怎样变化的2乘2复数矩阵。层间用角谱法传播，即将光场分解为平面波再叠加。这里采用局部周期和单向传播近似，还没有验证整片器件的邻近耦合与多次反射。建议用时35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数据依据：figures/geometry_C.png；figures/complex_response_C.png；data/cases.json/config；assets/thz-engine.js。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在现场页面载入A案例，点发送并保存观测，再点按当前参数接收。原文是ECNU，4个UTF-8字节。此次有效数据包80位，错误0位，CRC通过。页面上的光斑由传播复场计算，不是把文字画成图片。另一个中文案例光隐演示为12字节，也完成匹配恢复。两条演示消息通过，不代表所有输入和噪声条件都通过。建议用时45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数据依据：data/cases.json/cases A、A2；data/cases/A.json、A2.json；data/observations/ECNU.json；本页截图来源见tools/slides/build_manifest.json。跨运行浮点误差与各自哈希见data/cross_runtime_comparison.json。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持观测标识不变，依次点只改偏振、只改转角、只改间距。只改偏振到90度时出现80个有效位的擦除，误码率没有定义。只改转角到90度有42个错误，只改间距到10毫米有35个错误。最后恢复匹配参数并再次接收，恢复到0个错误。我们没有写成参数不同就强制显示乱码，结果来自接收计算。也不能由这几个失败案例推出所有错误参数都失败。建议用时40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数据依据：data/cases.json/cases B/results；所有results.observation_id均为e61a5b2d99a2b99ba16e3e70cd0012435d1db4f77f038b74932497ef3697ff20；data/case_protocol.json固定单参数选择规则。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载入C案例后先发送并接收，此时偏振偏差2度，80位里错15位。点击用公开导频校准并接收，100次候选评估后偏振调到0.125度，剩1位错误，所以CRC仍未通过。导频是公开的参考信号，不是偷偷读取原文。已有安全测试中，公开模型的候选枚举和连续搜索成功恢复过消息，这些记录保留在研究详情中。校准改善不等于全部恢复，三参数对照也不等于密码学安全。建议用时45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数据依据：data/cases.json/cases C；data/case_protocol.json；data/evidence中的公开候选与连续搜索记录；原始历史攻击记录见source_manifest.json。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已经能从真实单元库走到同尺度的三层近似模型，并在现场完成同一观测下的文字收发对照。之后只做软件和数值研究，重点是局部耦合误差、剩余误码与公开模型安全性。还没有完成芯片制备、实验测量或完整三层全波验证。如现场浏览器计算异常，就打开静态回放，明确告诉老师现在展示的是已保存结果，不再假装实时计算。建议用时30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数据依据：release_demo/index.html；静态回放.html；data/cases.json；研究范围由项目AGENTS.md与现有STATE.md约束。</a:t>
            </a:r>
          </a:p>
          <a:p xmlns:a="http://schemas.openxmlformats.org/drawingml/2006/main">
            <a:r>
              <a:t>数据截点：2026年10月30日。演示案例不代替独立测试。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32be0252d4f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7000797d54b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b7b2c9f674b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6bd40cb3b4e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79d44b2c04b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270cc7631f44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6A6C70-AF80-430C-ABB9-340F9D277C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2E7CAA-A898-47C6-8B06-00916ED83A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F8CF9A-6634-46C6-B41A-E542AC04E0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47C1A6D-5A06-47E2-8B53-73B0761AA2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4B57481-6175-4340-8A29-058559478B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C56F69-5A35-4AF3-983E-757FF0C5D3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6EA005-6928-4A3D-AD51-F13014B13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E1859C9-0600-403C-9321-07ED8DCC2EA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114AB9-49B3-40A0-8E22-54B63AB7D9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2A2D15-014E-4836-B9DC-3980C48611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ff5e3b35aaa4e6c" /><Relationship Type="http://schemas.openxmlformats.org/officeDocument/2006/relationships/slideLayout" Target="/ppt/slideLayouts/slideLayout1.xml" Id="Reb42e136b4464ad0" /><Relationship Type="http://schemas.openxmlformats.org/officeDocument/2006/relationships/slideLayout" Target="/ppt/slideLayouts/slideLayout2.xml" Id="Rfb3588f1eec54bb4" /><Relationship Type="http://schemas.openxmlformats.org/officeDocument/2006/relationships/slideLayout" Target="/ppt/slideLayouts/slideLayout3.xml" Id="Ra577523af5c74ae4" /><Relationship Type="http://schemas.openxmlformats.org/officeDocument/2006/relationships/slideLayout" Target="/ppt/slideLayouts/slideLayout4.xml" Id="R78566f5f04c846d3" /><Relationship Type="http://schemas.openxmlformats.org/officeDocument/2006/relationships/slideLayout" Target="/ppt/slideLayouts/slideLayout5.xml" Id="R2f2ad96fb86240e7" /><Relationship Type="http://schemas.openxmlformats.org/officeDocument/2006/relationships/slideLayout" Target="/ppt/slideLayouts/slideLayout6.xml" Id="R7ef9423ac3084f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42e136b4464ad0"/>
    <p:sldLayoutId xmlns:r="http://schemas.openxmlformats.org/officeDocument/2006/relationships" id="2147483650" r:id="Rfb3588f1eec54bb4"/>
    <p:sldLayoutId xmlns:r="http://schemas.openxmlformats.org/officeDocument/2006/relationships" id="2147483651" r:id="Ra577523af5c74ae4"/>
    <p:sldLayoutId xmlns:r="http://schemas.openxmlformats.org/officeDocument/2006/relationships" id="2147483652" r:id="R78566f5f04c846d3"/>
    <p:sldLayoutId xmlns:r="http://schemas.openxmlformats.org/officeDocument/2006/relationships" id="2147483653" r:id="R2f2ad96fb86240e7"/>
    <p:sldLayoutId xmlns:r="http://schemas.openxmlformats.org/officeDocument/2006/relationships" id="2147483654" r:id="R7ef9423ac3084f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63dafb4d3844c2" /><Relationship Type="http://schemas.openxmlformats.org/officeDocument/2006/relationships/notesSlide" Target="/ppt/notesSlides/notesSlide1.xml" Id="R2f6173b5e43e40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d0cdab50974b27" /><Relationship Type="http://schemas.openxmlformats.org/officeDocument/2006/relationships/notesSlide" Target="/ppt/notesSlides/notesSlide2.xml" Id="Rda263fd769194f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54a58602f41f1" /><Relationship Type="http://schemas.openxmlformats.org/officeDocument/2006/relationships/image" Target="/ppt/media/image.png" Id="Rdd1fa286d33e4746" /><Relationship Type="http://schemas.openxmlformats.org/officeDocument/2006/relationships/notesSlide" Target="/ppt/notesSlides/notesSlide3.xml" Id="Rec28976e2c7e44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c95ad5bad94dd9" /><Relationship Type="http://schemas.openxmlformats.org/officeDocument/2006/relationships/image" Target="/ppt/media/image2.png" Id="Rc709c48547a84aa4" /><Relationship Type="http://schemas.openxmlformats.org/officeDocument/2006/relationships/notesSlide" Target="/ppt/notesSlides/notesSlide4.xml" Id="R9033d35e0f0245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18b4ac3174f37" /><Relationship Type="http://schemas.openxmlformats.org/officeDocument/2006/relationships/image" Target="/ppt/media/image3.png" Id="Ra0699b0ab88b463f" /><Relationship Type="http://schemas.openxmlformats.org/officeDocument/2006/relationships/notesSlide" Target="/ppt/notesSlides/notesSlide5.xml" Id="Rfc947d81e02548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a6005890a4bb8" /><Relationship Type="http://schemas.openxmlformats.org/officeDocument/2006/relationships/notesSlide" Target="/ppt/notesSlides/notesSlide6.xml" Id="Re40eb21db4dc43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bd88a6218e428f" /><Relationship Type="http://schemas.openxmlformats.org/officeDocument/2006/relationships/notesSlide" Target="/ppt/notesSlides/notesSlide7.xml" Id="Rcc93f362e91149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533007b324285" /><Relationship Type="http://schemas.openxmlformats.org/officeDocument/2006/relationships/notesSlide" Target="/ppt/notesSlides/notesSlide8.xml" Id="Rf7fbff93c217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光隐">
            <a:extLst xmlns:a="http://schemas.openxmlformats.org/drawingml/2006/main">
              <a:ext uri="{FF2B5EF4-FFF2-40B4-BE49-F238E27FC236}">
                <a16:creationId xmlns:a16="http://schemas.microsoft.com/office/drawing/2014/main" id="{F2B47662-FFC3-4F16-B035-6258F9FC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5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光隐</a:t>
            </a:r>
          </a:p>
        </p:txBody>
      </p:sp>
      <p:sp>
        <p:nvSpPr>
          <p:cNvPr id="2" name="三参数联合&#10;光学传输仿真">
            <a:extLst xmlns:a="http://schemas.openxmlformats.org/drawingml/2006/main">
              <a:ext uri="{FF2B5EF4-FFF2-40B4-BE49-F238E27FC236}">
                <a16:creationId xmlns:a16="http://schemas.microsoft.com/office/drawing/2014/main" id="{4717D36C-0BC2-4EED-9656-CAFD4737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763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三参数联合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48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光学传输仿真</a:t>
            </a:r>
          </a:p>
        </p:txBody>
      </p:sp>
      <p:sp>
        <p:nvSpPr>
          <p:cNvPr id="3" name="基于真实 FDTD 单元响应的三层近似传播仿真">
            <a:extLst xmlns:a="http://schemas.openxmlformats.org/drawingml/2006/main">
              <a:ext uri="{FF2B5EF4-FFF2-40B4-BE49-F238E27FC236}">
                <a16:creationId xmlns:a16="http://schemas.microsoft.com/office/drawing/2014/main" id="{983EA099-526A-4B03-A0A9-67873E54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基于真实</a:t>
            </a:r>
            <a:r>
              <a: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FDTD </a:t>
            </a:r>
            <a:r>
              <a:rPr sz="24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单元响应的三层近似传播仿真</a:t>
            </a:r>
          </a:p>
        </p:txBody>
      </p:sp>
      <p:sp>
        <p:nvSpPr>
          <p:cNvPr id="4" name="导师交流与阶段成果展示">
            <a:extLst xmlns:a="http://schemas.openxmlformats.org/drawingml/2006/main">
              <a:ext uri="{FF2B5EF4-FFF2-40B4-BE49-F238E27FC236}">
                <a16:creationId xmlns:a16="http://schemas.microsoft.com/office/drawing/2014/main" id="{07726529-F906-4CD9-A4A0-3ED812F6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导师交流与阶段成果展示</a:t>
            </a:r>
          </a:p>
        </p:txBody>
      </p:sp>
      <p:sp>
        <p:nvSpPr>
          <p:cNvPr id="5" name="0.7 THz   /   thz-assumed-0.1 ">
            <a:extLst xmlns:a="http://schemas.openxmlformats.org/drawingml/2006/main">
              <a:ext uri="{FF2B5EF4-FFF2-40B4-BE49-F238E27FC236}">
                <a16:creationId xmlns:a16="http://schemas.microsoft.com/office/drawing/2014/main" id="{D3708E6C-B21E-4AEB-B2DB-C32203E8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0.7 THz   /   thz-assumed-0.1   /   2026.10.30</a:t>
            </a:r>
          </a:p>
        </p:txBody>
      </p:sp>
      <p:sp>
        <p:nvSpPr>
          <p:cNvPr id="6" name="尚未完成整片三层全波验证，也未证明通信安全。">
            <a:extLst xmlns:a="http://schemas.openxmlformats.org/drawingml/2006/main">
              <a:ext uri="{FF2B5EF4-FFF2-40B4-BE49-F238E27FC236}">
                <a16:creationId xmlns:a16="http://schemas.microsoft.com/office/drawing/2014/main" id="{9CD86294-BDF1-41FC-9A7C-90147472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尚未完成整片三层全波验证，也未证明通信安全。</a:t>
            </a:r>
          </a:p>
        </p:txBody>
      </p:sp>
    </p:spTree>
    <p:extLst>
      <p:ext uri="{BB962C8B-B14F-4D97-AF65-F5344CB8AC3E}">
        <p14:creationId xmlns:p14="http://schemas.microsoft.com/office/powerpoint/2010/main" val="75385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三参数怎样参与一次收发">
            <a:extLst xmlns:a="http://schemas.openxmlformats.org/drawingml/2006/main">
              <a:ext uri="{FF2B5EF4-FFF2-40B4-BE49-F238E27FC236}">
                <a16:creationId xmlns:a16="http://schemas.microsoft.com/office/drawing/2014/main" id="{743D93EF-908E-4C30-A6A9-68428F59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三参数怎样参与一次收发</a:t>
            </a:r>
          </a:p>
        </p:txBody>
      </p:sp>
      <p:sp>
        <p:nvSpPr>
          <p:cNvPr id="2" name="光隐 · 0.7 THz 文献参数假设模型">
            <a:extLst xmlns:a="http://schemas.openxmlformats.org/drawingml/2006/main">
              <a:ext uri="{FF2B5EF4-FFF2-40B4-BE49-F238E27FC236}">
                <a16:creationId xmlns:a16="http://schemas.microsoft.com/office/drawing/2014/main" id="{66BC59FC-98AB-4C94-B4C4-AE3EFF66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光隐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· 0.7 THz 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文献参数假设模型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5BC2718C-D44F-4C83-8878-30ADE8C8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02</a:t>
            </a:r>
          </a:p>
        </p:txBody>
      </p:sp>
      <p:sp>
        <p:nvSpPr>
          <p:cNvPr id="4" name="01  输入文字">
            <a:extLst xmlns:a="http://schemas.openxmlformats.org/drawingml/2006/main">
              <a:ext uri="{FF2B5EF4-FFF2-40B4-BE49-F238E27FC236}">
                <a16:creationId xmlns:a16="http://schemas.microsoft.com/office/drawing/2014/main" id="{F910C9E1-5330-4370-A867-E12F1F5DC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1447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01  </a:t>
            </a: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输入文字</a:t>
            </a:r>
          </a:p>
        </p:txBody>
      </p:sp>
      <p:sp>
        <p:nvSpPr>
          <p:cNvPr id="5" name="按 UTF-8 编码，用两种相位表示 0 和 1">
            <a:extLst xmlns:a="http://schemas.openxmlformats.org/drawingml/2006/main">
              <a:ext uri="{FF2B5EF4-FFF2-40B4-BE49-F238E27FC236}">
                <a16:creationId xmlns:a16="http://schemas.microsoft.com/office/drawing/2014/main" id="{7C1AF69B-1334-46AD-93EE-A157B2CD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14475"/>
            <a:ext cx="786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按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UTF-8 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编码，用两种相位表示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0 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和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1</a:t>
            </a:r>
          </a:p>
        </p:txBody>
      </p:sp>
      <p:sp>
        <p:nvSpPr>
          <p:cNvPr id="6" name="02  三层传播">
            <a:extLst xmlns:a="http://schemas.openxmlformats.org/drawingml/2006/main">
              <a:ext uri="{FF2B5EF4-FFF2-40B4-BE49-F238E27FC236}">
                <a16:creationId xmlns:a16="http://schemas.microsoft.com/office/drawing/2014/main" id="{80D3190D-3353-4645-8D92-961152F9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02  </a:t>
            </a: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三层传播</a:t>
            </a:r>
          </a:p>
        </p:txBody>
      </p:sp>
      <p:sp>
        <p:nvSpPr>
          <p:cNvPr id="7" name="入射偏振 α、第二层转角 θ、L₂–L₃ 间距 d₂₃">
            <a:extLst xmlns:a="http://schemas.openxmlformats.org/drawingml/2006/main">
              <a:ext uri="{FF2B5EF4-FFF2-40B4-BE49-F238E27FC236}">
                <a16:creationId xmlns:a16="http://schemas.microsoft.com/office/drawing/2014/main" id="{512C0531-952A-4084-AB14-D80254158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47925"/>
            <a:ext cx="786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入射偏振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α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、第二层转角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θ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、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L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₂–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L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₃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间距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d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₂₃</a:t>
            </a:r>
          </a:p>
        </p:txBody>
      </p:sp>
      <p:sp>
        <p:nvSpPr>
          <p:cNvPr id="8" name="03  保存观测">
            <a:extLst xmlns:a="http://schemas.openxmlformats.org/drawingml/2006/main">
              <a:ext uri="{FF2B5EF4-FFF2-40B4-BE49-F238E27FC236}">
                <a16:creationId xmlns:a16="http://schemas.microsoft.com/office/drawing/2014/main" id="{9B701A4A-FEE8-4551-8758-AF8F7C18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03  </a:t>
            </a: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保存观测</a:t>
            </a:r>
          </a:p>
        </p:txBody>
      </p:sp>
      <p:sp>
        <p:nvSpPr>
          <p:cNvPr id="9" name="固定双偏振复电场及 SHA-256 标识">
            <a:extLst xmlns:a="http://schemas.openxmlformats.org/drawingml/2006/main">
              <a:ext uri="{FF2B5EF4-FFF2-40B4-BE49-F238E27FC236}">
                <a16:creationId xmlns:a16="http://schemas.microsoft.com/office/drawing/2014/main" id="{7D823597-EE6F-472A-8CA8-79DEFBCD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1375"/>
            <a:ext cx="786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固定双偏振复电场及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SHA-256 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标识</a:t>
            </a:r>
          </a:p>
        </p:txBody>
      </p:sp>
      <p:sp>
        <p:nvSpPr>
          <p:cNvPr id="10" name="04  接收比较">
            <a:extLst xmlns:a="http://schemas.openxmlformats.org/drawingml/2006/main">
              <a:ext uri="{FF2B5EF4-FFF2-40B4-BE49-F238E27FC236}">
                <a16:creationId xmlns:a16="http://schemas.microsoft.com/office/drawing/2014/main" id="{63DC9167-4AD8-4C78-8715-D5A259B7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14825"/>
            <a:ext cx="2714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04  </a:t>
            </a: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接收比较</a:t>
            </a:r>
          </a:p>
        </p:txBody>
      </p:sp>
      <p:sp>
        <p:nvSpPr>
          <p:cNvPr id="11" name="用候选参数恢复文字，再检查误码与 CRC">
            <a:extLst xmlns:a="http://schemas.openxmlformats.org/drawingml/2006/main">
              <a:ext uri="{FF2B5EF4-FFF2-40B4-BE49-F238E27FC236}">
                <a16:creationId xmlns:a16="http://schemas.microsoft.com/office/drawing/2014/main" id="{5D48001C-8A92-4C24-8459-E84D39EF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14825"/>
            <a:ext cx="7867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用候选参数恢复文字，再检查误码与</a:t>
            </a: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CRC</a:t>
            </a:r>
          </a:p>
        </p:txBody>
      </p:sp>
      <p:sp>
        <p:nvSpPr>
          <p:cNvPr id="12" name="复电场同时含振幅与相位，普通相机的一幅强度图不能直接替代。">
            <a:extLst xmlns:a="http://schemas.openxmlformats.org/drawingml/2006/main">
              <a:ext uri="{FF2B5EF4-FFF2-40B4-BE49-F238E27FC236}">
                <a16:creationId xmlns:a16="http://schemas.microsoft.com/office/drawing/2014/main" id="{EC3C2DC1-A828-4D52-84D9-2A07D218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复电场同时含振幅与相位，普通相机的一幅强度图不能直接替代。</a:t>
            </a:r>
          </a:p>
        </p:txBody>
      </p:sp>
    </p:spTree>
    <p:extLst>
      <p:ext uri="{BB962C8B-B14F-4D97-AF65-F5344CB8AC3E}">
        <p14:creationId xmlns:p14="http://schemas.microsoft.com/office/powerpoint/2010/main" val="12024231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真实硅柱单元与响应库">
            <a:extLst xmlns:a="http://schemas.openxmlformats.org/drawingml/2006/main">
              <a:ext uri="{FF2B5EF4-FFF2-40B4-BE49-F238E27FC236}">
                <a16:creationId xmlns:a16="http://schemas.microsoft.com/office/drawing/2014/main" id="{41030F7D-A18F-42D3-A2A1-656CD94A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真实硅柱单元与响应库</a:t>
            </a:r>
          </a:p>
        </p:txBody>
      </p:sp>
      <p:sp>
        <p:nvSpPr>
          <p:cNvPr id="2" name="光隐 · 0.7 THz 文献参数假设模型">
            <a:extLst xmlns:a="http://schemas.openxmlformats.org/drawingml/2006/main">
              <a:ext uri="{FF2B5EF4-FFF2-40B4-BE49-F238E27FC236}">
                <a16:creationId xmlns:a16="http://schemas.microsoft.com/office/drawing/2014/main" id="{C2297DED-4A93-4205-BB03-13D1B3E2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光隐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· 0.7 THz 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文献参数假设模型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30E36612-1E61-4393-8E1B-C365E3EDC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03</a:t>
            </a:r>
          </a:p>
        </p:txBody>
      </p:sp>
      <p:sp>
        <p:nvSpPr>
          <p:cNvPr id="4" name="27 种几何 / 54 条偏振响应">
            <a:extLst xmlns:a="http://schemas.openxmlformats.org/drawingml/2006/main">
              <a:ext uri="{FF2B5EF4-FFF2-40B4-BE49-F238E27FC236}">
                <a16:creationId xmlns:a16="http://schemas.microsoft.com/office/drawing/2014/main" id="{9E113821-6D6F-4D61-B3A3-EEAC1DF5B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27 </a:t>
            </a:r>
            <a:r>
              <a: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种几何</a:t>
            </a:r>
            <a:r>
              <a: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 / 54 </a:t>
            </a:r>
            <a:r>
              <a:rPr sz="240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条偏振响应</a:t>
            </a:r>
          </a:p>
        </p:txBody>
      </p:sp>
      <p:sp>
        <p:nvSpPr>
          <p:cNvPr id="5" name="当前三层设计使用其中 25 种几何">
            <a:extLst xmlns:a="http://schemas.openxmlformats.org/drawingml/2006/main">
              <a:ext uri="{FF2B5EF4-FFF2-40B4-BE49-F238E27FC236}">
                <a16:creationId xmlns:a16="http://schemas.microsoft.com/office/drawing/2014/main" id="{4F34727C-4DC4-471C-8C0F-BA320B80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38325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当前三层设计使用其中</a:t>
            </a:r>
            <a:r>
              <a: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25 </a:t>
            </a:r>
            <a:r>
              <a:rPr sz="202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种几何</a:t>
            </a:r>
          </a:p>
        </p:txBody>
      </p:sp>
      <p:sp>
        <p:nvSpPr>
          <p:cNvPr id="6" name="代表单元">
            <a:extLst xmlns:a="http://schemas.openxmlformats.org/drawingml/2006/main">
              <a:ext uri="{FF2B5EF4-FFF2-40B4-BE49-F238E27FC236}">
                <a16:creationId xmlns:a16="http://schemas.microsoft.com/office/drawing/2014/main" id="{B676378E-58E3-44DB-ADB7-DE21A9B9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代表单元</a:t>
            </a:r>
          </a:p>
        </p:txBody>
      </p:sp>
      <p:sp>
        <p:nvSpPr>
          <p:cNvPr id="7" name="柱长 60 μm，柱宽 75 μm&#10;周期 110 μm&#10;柱高">
            <a:extLst xmlns:a="http://schemas.openxmlformats.org/drawingml/2006/main">
              <a:ext uri="{FF2B5EF4-FFF2-40B4-BE49-F238E27FC236}">
                <a16:creationId xmlns:a16="http://schemas.microsoft.com/office/drawing/2014/main" id="{B1ECEE59-D80C-458C-A0ED-E22EC75D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5429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柱长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60 μm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，柱宽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75 μm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周期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110 μm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柱高与有限基底各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500 μm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硅折射率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3.42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，采用无损近似</a:t>
            </a:r>
          </a:p>
        </p:txBody>
      </p:sp>
      <p:sp>
        <p:nvSpPr>
          <p:cNvPr id="8" name="复透射振幅  x：0.971   y：0.920&#10;相位 / ">
            <a:extLst xmlns:a="http://schemas.openxmlformats.org/drawingml/2006/main">
              <a:ext uri="{FF2B5EF4-FFF2-40B4-BE49-F238E27FC236}">
                <a16:creationId xmlns:a16="http://schemas.microsoft.com/office/drawing/2014/main" id="{DB5C61F8-90E2-4958-B9D8-0DE6EF14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55530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复透射振幅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 x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：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0.971   y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：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0.920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相位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/ rad    x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：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-3.119   y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：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-1.532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79C9B9-A1A1-4E76-BD70-7BB31F798D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fa286d33e4746"/>
          <a:stretch xmlns:a="http://schemas.openxmlformats.org/drawingml/2006/main"/>
        </p:blipFill>
        <p:spPr>
          <a:xfrm xmlns:a="http://schemas.openxmlformats.org/drawingml/2006/main">
            <a:off x="6381750" y="1413595"/>
            <a:ext cx="5143500" cy="4259410"/>
          </a:xfrm>
          <a:prstGeom xmlns:a="http://schemas.openxmlformats.org/drawingml/2006/main" prst="rect">
            <a:avLst/>
          </a:prstGeom>
        </p:spPr>
      </p:pic>
      <p:sp>
        <p:nvSpPr>
          <p:cNvPr id="10" name="x 偏振电场强度，0.7 THz">
            <a:extLst xmlns:a="http://schemas.openxmlformats.org/drawingml/2006/main">
              <a:ext uri="{FF2B5EF4-FFF2-40B4-BE49-F238E27FC236}">
                <a16:creationId xmlns:a16="http://schemas.microsoft.com/office/drawing/2014/main" id="{DE8DF323-456B-4104-9603-6633191C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8197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x </a:t>
            </a:r>
            <a:r>
              <a: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偏振电场强度，</a:t>
            </a:r>
            <a:r>
              <a: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0.7 THz</a:t>
            </a:r>
          </a:p>
        </p:txBody>
      </p:sp>
      <p:sp>
        <p:nvSpPr>
          <p:cNvPr id="11" name="几何与材料含文献借用值，尚非目标论文已确认原值。">
            <a:extLst xmlns:a="http://schemas.openxmlformats.org/drawingml/2006/main">
              <a:ext uri="{FF2B5EF4-FFF2-40B4-BE49-F238E27FC236}">
                <a16:creationId xmlns:a16="http://schemas.microsoft.com/office/drawing/2014/main" id="{2101711C-34F1-410A-99C0-3AAEB85E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561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1575" b="0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几何与材料含文献借用值，尚非目标论文已确认原值。</a:t>
            </a:r>
          </a:p>
        </p:txBody>
      </p:sp>
    </p:spTree>
    <p:extLst>
      <p:ext uri="{BB962C8B-B14F-4D97-AF65-F5344CB8AC3E}">
        <p14:creationId xmlns:p14="http://schemas.microsoft.com/office/powerpoint/2010/main" val="469430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三层结构怎样使用真实单元数据">
            <a:extLst xmlns:a="http://schemas.openxmlformats.org/drawingml/2006/main">
              <a:ext uri="{FF2B5EF4-FFF2-40B4-BE49-F238E27FC236}">
                <a16:creationId xmlns:a16="http://schemas.microsoft.com/office/drawing/2014/main" id="{1BE715C5-E840-4E10-A9BA-D4E6A2CD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三层结构怎样使用真实单元数据</a:t>
            </a:r>
          </a:p>
        </p:txBody>
      </p:sp>
      <p:sp>
        <p:nvSpPr>
          <p:cNvPr id="2" name="光隐 · 0.7 THz 文献参数假设模型">
            <a:extLst xmlns:a="http://schemas.openxmlformats.org/drawingml/2006/main">
              <a:ext uri="{FF2B5EF4-FFF2-40B4-BE49-F238E27FC236}">
                <a16:creationId xmlns:a16="http://schemas.microsoft.com/office/drawing/2014/main" id="{288B9CB3-4473-4283-9C88-BE610066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光隐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· 0.7 THz 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文献参数假设模型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B56B2FAB-A05C-4DB3-A298-18B64E5F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04</a:t>
            </a:r>
          </a:p>
        </p:txBody>
      </p:sp>
      <p:sp>
        <p:nvSpPr>
          <p:cNvPr id="4" name="三层各 16 × 16 单元，孔径 1.76 mm × 1.">
            <a:extLst xmlns:a="http://schemas.openxmlformats.org/drawingml/2006/main">
              <a:ext uri="{FF2B5EF4-FFF2-40B4-BE49-F238E27FC236}">
                <a16:creationId xmlns:a16="http://schemas.microsoft.com/office/drawing/2014/main" id="{209A649C-AB22-4799-8AF2-C66666A3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三层各</a:t>
            </a:r>
            <a:r>
              <a: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 16 × 16 </a:t>
            </a:r>
            <a:r>
              <a: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单元，孔径</a:t>
            </a:r>
            <a:r>
              <a: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 1.76 mm × 1.76 mm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A118AC-2DF9-4D30-8CDB-B1E407EC2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9c48547a84aa4"/>
          <a:stretch xmlns:a="http://schemas.openxmlformats.org/drawingml/2006/main"/>
        </p:blipFill>
        <p:spPr>
          <a:xfrm xmlns:a="http://schemas.openxmlformats.org/drawingml/2006/main">
            <a:off x="2936875" y="1781175"/>
            <a:ext cx="6318250" cy="3790950"/>
          </a:xfrm>
          <a:prstGeom xmlns:a="http://schemas.openxmlformats.org/drawingml/2006/main" prst="rect">
            <a:avLst/>
          </a:prstGeom>
        </p:spPr>
      </p:pic>
      <p:sp>
        <p:nvSpPr>
          <p:cNvPr id="6" name="每格选择一组真实 L、W，同时决定 x、y 两种偏振的复响应">
            <a:extLst xmlns:a="http://schemas.openxmlformats.org/drawingml/2006/main">
              <a:ext uri="{FF2B5EF4-FFF2-40B4-BE49-F238E27FC236}">
                <a16:creationId xmlns:a16="http://schemas.microsoft.com/office/drawing/2014/main" id="{66242FAB-79ED-4A23-A101-3CAA6DD7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每格选择一组真实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L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、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W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，同时决定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x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、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y 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两种偏振的复响应。</a:t>
            </a:r>
          </a:p>
        </p:txBody>
      </p:sp>
      <p:sp>
        <p:nvSpPr>
          <p:cNvPr id="7" name="第二层整层旋转时，同时处理单元位置和 Jones 偏振响应。">
            <a:extLst xmlns:a="http://schemas.openxmlformats.org/drawingml/2006/main">
              <a:ext uri="{FF2B5EF4-FFF2-40B4-BE49-F238E27FC236}">
                <a16:creationId xmlns:a16="http://schemas.microsoft.com/office/drawing/2014/main" id="{9B69CC86-B933-4614-AC73-469A436E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817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第二层整层旋转时，同时处理单元位置和</a:t>
            </a:r>
            <a:r>
              <a: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Jones </a:t>
            </a:r>
            <a:r>
              <a: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偏振响应。</a:t>
            </a:r>
          </a:p>
        </p:txBody>
      </p:sp>
    </p:spTree>
    <p:extLst>
      <p:ext uri="{BB962C8B-B14F-4D97-AF65-F5344CB8AC3E}">
        <p14:creationId xmlns:p14="http://schemas.microsoft.com/office/powerpoint/2010/main" val="160141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标称参数下的文字收发">
            <a:extLst xmlns:a="http://schemas.openxmlformats.org/drawingml/2006/main">
              <a:ext uri="{FF2B5EF4-FFF2-40B4-BE49-F238E27FC236}">
                <a16:creationId xmlns:a16="http://schemas.microsoft.com/office/drawing/2014/main" id="{A8A5C0F9-1F6F-4F27-9621-F0E2DC4C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标称参数下的文字收发</a:t>
            </a:r>
          </a:p>
        </p:txBody>
      </p:sp>
      <p:sp>
        <p:nvSpPr>
          <p:cNvPr id="2" name="光隐 · 0.7 THz 文献参数假设模型">
            <a:extLst xmlns:a="http://schemas.openxmlformats.org/drawingml/2006/main">
              <a:ext uri="{FF2B5EF4-FFF2-40B4-BE49-F238E27FC236}">
                <a16:creationId xmlns:a16="http://schemas.microsoft.com/office/drawing/2014/main" id="{3CD986D7-7AC9-46BA-BE4B-8710BFC2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光隐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· 0.7 THz 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文献参数假设模型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8FB4120C-4874-4B49-A828-04573AEB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05</a:t>
            </a:r>
          </a:p>
        </p:txBody>
      </p:sp>
      <p:sp>
        <p:nvSpPr>
          <p:cNvPr id="4" name="ECNU   →   ECNU">
            <a:extLst xmlns:a="http://schemas.openxmlformats.org/drawingml/2006/main">
              <a:ext uri="{FF2B5EF4-FFF2-40B4-BE49-F238E27FC236}">
                <a16:creationId xmlns:a16="http://schemas.microsoft.com/office/drawing/2014/main" id="{DD5751A2-ED5D-4BD4-8633-75B0EE23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716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ECNU   </a:t>
            </a:r>
            <a:r>
              <a: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→</a:t>
            </a:r>
            <a:r>
              <a:rPr sz="34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   ECNU</a:t>
            </a:r>
          </a:p>
        </p:txBody>
      </p:sp>
      <p:sp>
        <p:nvSpPr>
          <p:cNvPr id="5" name="偏振 0°   第二层转角 0°   L₂–L₃ 间距 6 ">
            <a:extLst xmlns:a="http://schemas.openxmlformats.org/drawingml/2006/main">
              <a:ext uri="{FF2B5EF4-FFF2-40B4-BE49-F238E27FC236}">
                <a16:creationId xmlns:a16="http://schemas.microsoft.com/office/drawing/2014/main" id="{55576ED9-778B-4C04-B017-DF318C0D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偏振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0°   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第二层转角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0°   L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₂–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L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₃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间距</a:t>
            </a:r>
            <a:r>
              <a:rPr sz="22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6 mm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C9959-68E5-4126-9AFF-1F067FC96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99b0ab88b463f"/>
          <a:stretch xmlns:a="http://schemas.openxmlformats.org/drawingml/2006/main"/>
        </p:blipFill>
        <p:spPr>
          <a:xfrm xmlns:a="http://schemas.openxmlformats.org/drawingml/2006/main">
            <a:off x="714375" y="2865403"/>
            <a:ext cx="7572375" cy="2946469"/>
          </a:xfrm>
          <a:prstGeom xmlns:a="http://schemas.openxmlformats.org/drawingml/2006/main" prst="rect">
            <a:avLst/>
          </a:prstGeom>
        </p:spPr>
      </p:pic>
      <p:sp>
        <p:nvSpPr>
          <p:cNvPr id="7" name="0 / 80">
            <a:extLst xmlns:a="http://schemas.openxmlformats.org/drawingml/2006/main">
              <a:ext uri="{FF2B5EF4-FFF2-40B4-BE49-F238E27FC236}">
                <a16:creationId xmlns:a16="http://schemas.microsoft.com/office/drawing/2014/main" id="{560DEC26-02F8-49A8-8AA1-CA5C61C5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146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36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0 / 80</a:t>
            </a:r>
          </a:p>
        </p:txBody>
      </p:sp>
      <p:sp>
        <p:nvSpPr>
          <p:cNvPr id="8" name="错误比特 / 有效比特">
            <a:extLst xmlns:a="http://schemas.openxmlformats.org/drawingml/2006/main">
              <a:ext uri="{FF2B5EF4-FFF2-40B4-BE49-F238E27FC236}">
                <a16:creationId xmlns:a16="http://schemas.microsoft.com/office/drawing/2014/main" id="{01AEF10C-7782-45F3-9CFF-97A59DFC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718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错误比特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/ </a:t>
            </a:r>
            <a:r>
              <a:rPr sz="18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有效比特</a:t>
            </a:r>
          </a:p>
        </p:txBody>
      </p:sp>
      <p:sp>
        <p:nvSpPr>
          <p:cNvPr id="9" name="CRC 通过">
            <a:extLst xmlns:a="http://schemas.openxmlformats.org/drawingml/2006/main">
              <a:ext uri="{FF2B5EF4-FFF2-40B4-BE49-F238E27FC236}">
                <a16:creationId xmlns:a16="http://schemas.microsoft.com/office/drawing/2014/main" id="{DFAF7601-6D2E-4A32-9636-7A706AAE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81475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CRC </a:t>
            </a:r>
            <a:r>
              <a:rPr sz="24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通过</a:t>
            </a:r>
          </a:p>
        </p:txBody>
      </p:sp>
      <p:sp>
        <p:nvSpPr>
          <p:cNvPr id="10" name="中文另例：光隐演示&#10;12 个 UTF-8 字节&#10;匹配接收通过">
            <a:extLst xmlns:a="http://schemas.openxmlformats.org/drawingml/2006/main">
              <a:ext uri="{FF2B5EF4-FFF2-40B4-BE49-F238E27FC236}">
                <a16:creationId xmlns:a16="http://schemas.microsoft.com/office/drawing/2014/main" id="{95C70EFD-72CF-488F-961C-832C17DC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38700"/>
            <a:ext cx="2705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中文另例：光隐演示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12 </a:t>
            </a: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个</a:t>
            </a: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UTF-8 </a:t>
            </a: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字节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匹配接收通过</a:t>
            </a:r>
          </a:p>
        </p:txBody>
      </p:sp>
      <p:sp>
        <p:nvSpPr>
          <p:cNvPr id="11" name="每次发送记录自己的观测 ID，同次接收对比固定不变。">
            <a:extLst xmlns:a="http://schemas.openxmlformats.org/drawingml/2006/main">
              <a:ext uri="{FF2B5EF4-FFF2-40B4-BE49-F238E27FC236}">
                <a16:creationId xmlns:a16="http://schemas.microsoft.com/office/drawing/2014/main" id="{A683CC69-A985-451A-BFD2-C1C5AC6F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每次发送记录自己的观测</a:t>
            </a:r>
            <a:r>
              <a: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ID</a:t>
            </a:r>
            <a:r>
              <a:rPr sz="17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，同次接收对比固定不变。</a:t>
            </a:r>
          </a:p>
        </p:txBody>
      </p:sp>
    </p:spTree>
    <p:extLst>
      <p:ext uri="{BB962C8B-B14F-4D97-AF65-F5344CB8AC3E}">
        <p14:creationId xmlns:p14="http://schemas.microsoft.com/office/powerpoint/2010/main" val="9327066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同一份观测下的参数对比">
            <a:extLst xmlns:a="http://schemas.openxmlformats.org/drawingml/2006/main">
              <a:ext uri="{FF2B5EF4-FFF2-40B4-BE49-F238E27FC236}">
                <a16:creationId xmlns:a16="http://schemas.microsoft.com/office/drawing/2014/main" id="{39D0A858-CF0A-4CFC-AB2A-11CA5052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同一份观测下的参数对比</a:t>
            </a:r>
          </a:p>
        </p:txBody>
      </p:sp>
      <p:sp>
        <p:nvSpPr>
          <p:cNvPr id="2" name="光隐 · 0.7 THz 文献参数假设模型">
            <a:extLst xmlns:a="http://schemas.openxmlformats.org/drawingml/2006/main">
              <a:ext uri="{FF2B5EF4-FFF2-40B4-BE49-F238E27FC236}">
                <a16:creationId xmlns:a16="http://schemas.microsoft.com/office/drawing/2014/main" id="{D53EA0C6-5CBD-4535-9E2C-7C2205F2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光隐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· 0.7 THz 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文献参数假设模型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AEFD314B-3EF1-433C-A7D2-9553E1244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06</a:t>
            </a:r>
          </a:p>
        </p:txBody>
      </p:sp>
      <p:sp>
        <p:nvSpPr>
          <p:cNvPr id="4" name="全程复用 ECNU 的同一份观测，改变接收参数后重新计算">
            <a:extLst xmlns:a="http://schemas.openxmlformats.org/drawingml/2006/main">
              <a:ext uri="{FF2B5EF4-FFF2-40B4-BE49-F238E27FC236}">
                <a16:creationId xmlns:a16="http://schemas.microsoft.com/office/drawing/2014/main" id="{B2A5CA7E-CE51-4F4A-9B7E-485A25A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430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全程复用</a:t>
            </a:r>
            <a:r>
              <a: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 ECNU </a:t>
            </a:r>
            <a:r>
              <a:rPr sz="217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的同一份观测，改变接收参数后重新计算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67F21-B3B7-4993-BBE8-A53FD5214086}"/>
              </a:ext>
            </a:extLst>
          </p:cNvPr>
          <p:cNvGraphicFramePr/>
          <p:nvPr/>
        </p:nvGraphicFramePr>
        <p:xfrm>
          <a:off xmlns:a="http://schemas.openxmlformats.org/drawingml/2006/main" x="723900" y="2085975"/>
          <a:ext xmlns:a="http://schemas.openxmlformats.org/drawingml/2006/main" cx="107442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66950"/>
                <a:gridCol w="1200150"/>
                <a:gridCol w="1200150"/>
                <a:gridCol w="1752600"/>
                <a:gridCol w="2343150"/>
                <a:gridCol w="1981200"/>
              </a:tblGrid>
              <a:tr h="533400"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接收条件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DDD6"/>
                      </a:solidFill>
                      <a:prstDash val="solid"/>
                    </a:lnL>
                    <a:lnR w="9525">
                      <a:solidFill>
                        <a:srgbClr val="DADDD6"/>
                      </a:solidFill>
                      <a:prstDash val="solid"/>
                    </a:lnR>
                    <a:lnT w="9525">
                      <a:solidFill>
                        <a:srgbClr val="DADDD6"/>
                      </a:solidFill>
                      <a:prstDash val="solid"/>
                    </a:lnT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25352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α / 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T w="9525">
                      <a:solidFill>
                        <a:srgbClr val="DADDD6"/>
                      </a:solidFill>
                      <a:prstDash val="solid"/>
                    </a:lnT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25352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θ / 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T w="9525">
                      <a:solidFill>
                        <a:srgbClr val="DADDD6"/>
                      </a:solidFill>
                      <a:prstDash val="solid"/>
                    </a:lnT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25352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d₂₃ / mm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T w="9525">
                      <a:solidFill>
                        <a:srgbClr val="DADDD6"/>
                      </a:solidFill>
                      <a:prstDash val="solid"/>
                    </a:lnT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25352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误码 / 擦除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T w="9525">
                      <a:solidFill>
                        <a:srgbClr val="DADDD6"/>
                      </a:solidFill>
                      <a:prstDash val="solid"/>
                    </a:lnT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25352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CRC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T w="9525">
                      <a:solidFill>
                        <a:srgbClr val="DADDD6"/>
                      </a:solidFill>
                      <a:prstDash val="solid"/>
                    </a:lnT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25352F"/>
                    </a:solidFill>
                  </a:tcPr>
                </a:tc>
              </a:tr>
              <a:tr h="533400"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匹配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DDD6"/>
                      </a:solidFill>
                      <a:prstDash val="solid"/>
                    </a:lnL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 / 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只改偏振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DDD6"/>
                      </a:solidFill>
                      <a:prstDash val="solid"/>
                    </a:lnL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80 位擦除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未通过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33400"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只改转角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DDD6"/>
                      </a:solidFill>
                      <a:prstDash val="solid"/>
                    </a:lnL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90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42 / 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未通过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只改间距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DDD6"/>
                      </a:solidFill>
                      <a:prstDash val="solid"/>
                    </a:lnL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35 / 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未通过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7F5EF"/>
                    </a:solidFill>
                  </a:tcPr>
                </a:tc>
              </a:tr>
              <a:tr h="533400"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l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恢复匹配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ADDD6"/>
                      </a:solidFill>
                      <a:prstDash val="solid"/>
                    </a:lnL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0 / 80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33350" tIns="114300" rIns="114300" bIns="85725">
                      <a:noAutofit/>
                    </a:bodyPr>
                    <a:lstStyle/>
                    <a:p>
                      <a:pPr algn="ctr"/>
                      <a:r>
                        <a:rPr sz="2025" b="0">
                          <a:solidFill>
                            <a:srgbClr val="25352F"/>
                          </a:solidFill>
                          <a:latin typeface="Times New Roman"/>
                          <a:ea typeface="SimSun"/>
                          <a:cs typeface="Times New Roman"/>
                        </a:rPr>
                        <a:t>通过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ADDD6"/>
                      </a:solidFill>
                      <a:prstDash val="solid"/>
                    </a:lnR>
                    <a:lnB w="9525">
                      <a:solidFill>
                        <a:srgbClr val="DADD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偏振对比出现数值擦除，BER 不定义。这里不把擦除算成普通误">
            <a:extLst xmlns:a="http://schemas.openxmlformats.org/drawingml/2006/main">
              <a:ext uri="{FF2B5EF4-FFF2-40B4-BE49-F238E27FC236}">
                <a16:creationId xmlns:a16="http://schemas.microsoft.com/office/drawing/2014/main" id="{2897DEBC-3DA2-4074-A964-CDC25951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偏振对比出现数值擦除，</a:t>
            </a: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BER </a:t>
            </a:r>
            <a:r>
              <a:rPr sz="195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不定义。这里不把擦除算成普通误码。</a:t>
            </a:r>
          </a:p>
        </p:txBody>
      </p:sp>
      <p:sp>
        <p:nvSpPr>
          <p:cNvPr id="7" name="这些是固定演示案例，不代表所有错误参数都会失败。">
            <a:extLst xmlns:a="http://schemas.openxmlformats.org/drawingml/2006/main">
              <a:ext uri="{FF2B5EF4-FFF2-40B4-BE49-F238E27FC236}">
                <a16:creationId xmlns:a16="http://schemas.microsoft.com/office/drawing/2014/main" id="{43823309-4AE2-4FCE-96C9-90C0F70C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这些是固定演示案例，不代表所有错误参数都会失败。</a:t>
            </a:r>
          </a:p>
        </p:txBody>
      </p:sp>
    </p:spTree>
    <p:extLst>
      <p:ext uri="{BB962C8B-B14F-4D97-AF65-F5344CB8AC3E}">
        <p14:creationId xmlns:p14="http://schemas.microsoft.com/office/powerpoint/2010/main" val="1338993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校准有所改善，安全问题仍在">
            <a:extLst xmlns:a="http://schemas.openxmlformats.org/drawingml/2006/main">
              <a:ext uri="{FF2B5EF4-FFF2-40B4-BE49-F238E27FC236}">
                <a16:creationId xmlns:a16="http://schemas.microsoft.com/office/drawing/2014/main" id="{0DCDE0CA-566B-4B02-B9F6-5B839FA70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校准有所改善，安全问题仍在</a:t>
            </a:r>
          </a:p>
        </p:txBody>
      </p:sp>
      <p:sp>
        <p:nvSpPr>
          <p:cNvPr id="2" name="光隐 · 0.7 THz 文献参数假设模型">
            <a:extLst xmlns:a="http://schemas.openxmlformats.org/drawingml/2006/main">
              <a:ext uri="{FF2B5EF4-FFF2-40B4-BE49-F238E27FC236}">
                <a16:creationId xmlns:a16="http://schemas.microsoft.com/office/drawing/2014/main" id="{5D0E50AE-DF41-4127-AC44-39AE287D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光隐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· 0.7 THz 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文献参数假设模型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726D1514-0964-4053-A86A-930DC97F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07</a:t>
            </a:r>
          </a:p>
        </p:txBody>
      </p:sp>
      <p:sp>
        <p:nvSpPr>
          <p:cNvPr id="4" name="公开导频校准">
            <a:extLst xmlns:a="http://schemas.openxmlformats.org/drawingml/2006/main">
              <a:ext uri="{FF2B5EF4-FFF2-40B4-BE49-F238E27FC236}">
                <a16:creationId xmlns:a16="http://schemas.microsoft.com/office/drawing/2014/main" id="{834F7FC6-2EDD-4EA3-9D74-05AF78DD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620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公开导频校准</a:t>
            </a:r>
          </a:p>
        </p:txBody>
      </p:sp>
      <p:sp>
        <p:nvSpPr>
          <p:cNvPr id="5" name="15 / 80     →     1 / 80">
            <a:extLst xmlns:a="http://schemas.openxmlformats.org/drawingml/2006/main">
              <a:ext uri="{FF2B5EF4-FFF2-40B4-BE49-F238E27FC236}">
                <a16:creationId xmlns:a16="http://schemas.microsoft.com/office/drawing/2014/main" id="{5F25B116-7674-45FC-81B3-8708D049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6172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15 / 80     </a:t>
            </a:r>
            <a:r>
              <a: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→</a:t>
            </a:r>
            <a:r>
              <a:rPr sz="405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    1 / 80</a:t>
            </a:r>
          </a:p>
        </p:txBody>
      </p:sp>
      <p:sp>
        <p:nvSpPr>
          <p:cNvPr id="6" name="误码减少，但校准后 CRC 仍未通过">
            <a:extLst xmlns:a="http://schemas.openxmlformats.org/drawingml/2006/main">
              <a:ext uri="{FF2B5EF4-FFF2-40B4-BE49-F238E27FC236}">
                <a16:creationId xmlns:a16="http://schemas.microsoft.com/office/drawing/2014/main" id="{8E568180-5D16-4E0A-93C8-63CC70B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误码减少，但校准后</a:t>
            </a:r>
            <a:r>
              <a: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 CRC </a:t>
            </a:r>
            <a:r>
              <a:rPr sz="2250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仍未通过</a:t>
            </a:r>
          </a:p>
        </p:txBody>
      </p:sp>
      <p:sp>
        <p:nvSpPr>
          <p:cNvPr id="7" name="接收偏振由 2° 调整到 0.125°&#10;其余参数保持第二层转">
            <a:extLst xmlns:a="http://schemas.openxmlformats.org/drawingml/2006/main">
              <a:ext uri="{FF2B5EF4-FFF2-40B4-BE49-F238E27FC236}">
                <a16:creationId xmlns:a16="http://schemas.microsoft.com/office/drawing/2014/main" id="{2EF4627E-5447-43C9-8348-4BB30F53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623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接收偏振由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2° 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调整到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0.125°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其余参数保持第二层转角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0°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、层间距</a:t>
            </a:r>
            <a:r>
              <a:rPr sz="2100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 6 mm</a:t>
            </a:r>
          </a:p>
        </p:txBody>
      </p:sp>
      <p:sp>
        <p:nvSpPr>
          <p:cNvPr id="8" name="导频：双方公开约定的参考信号，用于估计接收参数。">
            <a:extLst xmlns:a="http://schemas.openxmlformats.org/drawingml/2006/main">
              <a:ext uri="{FF2B5EF4-FFF2-40B4-BE49-F238E27FC236}">
                <a16:creationId xmlns:a16="http://schemas.microsoft.com/office/drawing/2014/main" id="{5C32D068-ED4B-436C-A8FF-381B7FED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20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导频：双方公开约定的参考信号，用于估计接收参数。</a:t>
            </a:r>
          </a:p>
        </p:txBody>
      </p:sp>
      <p:sp>
        <p:nvSpPr>
          <p:cNvPr id="9" name="掌握公开模型与复场观测后，已有参数搜索成功恢复消息。">
            <a:extLst xmlns:a="http://schemas.openxmlformats.org/drawingml/2006/main">
              <a:ext uri="{FF2B5EF4-FFF2-40B4-BE49-F238E27FC236}">
                <a16:creationId xmlns:a16="http://schemas.microsoft.com/office/drawing/2014/main" id="{C66BABF2-8268-4AA2-A5EA-97368553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668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掌握公开模型与复场观测后，已有参数搜索成功恢复消息。</a:t>
            </a:r>
          </a:p>
        </p:txBody>
      </p:sp>
      <p:sp>
        <p:nvSpPr>
          <p:cNvPr id="10" name="CRC 只检错。三参数选通尚无密码学安全证明。">
            <a:extLst xmlns:a="http://schemas.openxmlformats.org/drawingml/2006/main">
              <a:ext uri="{FF2B5EF4-FFF2-40B4-BE49-F238E27FC236}">
                <a16:creationId xmlns:a16="http://schemas.microsoft.com/office/drawing/2014/main" id="{A40761AE-D101-4804-9D99-1BE881C5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054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CRC </a:t>
            </a:r>
            <a:r>
              <a:rPr sz="2100" b="0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只检错。三参数选通尚无密码学安全证明。</a:t>
            </a:r>
          </a:p>
        </p:txBody>
      </p:sp>
    </p:spTree>
    <p:extLst>
      <p:ext uri="{BB962C8B-B14F-4D97-AF65-F5344CB8AC3E}">
        <p14:creationId xmlns:p14="http://schemas.microsoft.com/office/powerpoint/2010/main" val="1360794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当前结论与下一阶段问题">
            <a:extLst xmlns:a="http://schemas.openxmlformats.org/drawingml/2006/main">
              <a:ext uri="{FF2B5EF4-FFF2-40B4-BE49-F238E27FC236}">
                <a16:creationId xmlns:a16="http://schemas.microsoft.com/office/drawing/2014/main" id="{FD6C34EA-2D5E-4113-BFA6-E5AF5C56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33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当前结论与下一阶段问题</a:t>
            </a:r>
          </a:p>
        </p:txBody>
      </p:sp>
      <p:sp>
        <p:nvSpPr>
          <p:cNvPr id="2" name="光隐 · 0.7 THz 文献参数假设模型">
            <a:extLst xmlns:a="http://schemas.openxmlformats.org/drawingml/2006/main">
              <a:ext uri="{FF2B5EF4-FFF2-40B4-BE49-F238E27FC236}">
                <a16:creationId xmlns:a16="http://schemas.microsoft.com/office/drawing/2014/main" id="{F6DF0CD9-25C3-4E9A-B7C6-B0BD94DD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72225"/>
            <a:ext cx="838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光隐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· 0.7 THz </a:t>
            </a:r>
            <a:r>
              <a:rPr sz="1425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文献参数假设模型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6D5A8F8-903D-4611-A8DD-199ACA44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34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65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08</a:t>
            </a:r>
          </a:p>
        </p:txBody>
      </p:sp>
      <p:sp>
        <p:nvSpPr>
          <p:cNvPr id="4" name="本轮已交付">
            <a:extLst xmlns:a="http://schemas.openxmlformats.org/drawingml/2006/main">
              <a:ext uri="{FF2B5EF4-FFF2-40B4-BE49-F238E27FC236}">
                <a16:creationId xmlns:a16="http://schemas.microsoft.com/office/drawing/2014/main" id="{8B9DD60B-7A69-4EF5-93DB-A8F51CA7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本轮已交付</a:t>
            </a:r>
          </a:p>
        </p:txBody>
      </p:sp>
      <p:sp>
        <p:nvSpPr>
          <p:cNvPr id="5" name="可操作的收发页面、固定案例、真实数据依据和离线回放">
            <a:extLst xmlns:a="http://schemas.openxmlformats.org/drawingml/2006/main">
              <a:ext uri="{FF2B5EF4-FFF2-40B4-BE49-F238E27FC236}">
                <a16:creationId xmlns:a16="http://schemas.microsoft.com/office/drawing/2014/main" id="{1CD59936-C317-47B3-BA19-A2127152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475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可操作的收发页面、固定案例、真实数据依据和离线回放</a:t>
            </a:r>
          </a:p>
        </p:txBody>
      </p:sp>
      <p:sp>
        <p:nvSpPr>
          <p:cNvPr id="6" name="后续数值研究">
            <a:extLst xmlns:a="http://schemas.openxmlformats.org/drawingml/2006/main">
              <a:ext uri="{FF2B5EF4-FFF2-40B4-BE49-F238E27FC236}">
                <a16:creationId xmlns:a16="http://schemas.microsoft.com/office/drawing/2014/main" id="{2378DEC2-AC06-453F-A2D5-E9C5A29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defRPr>
            </a:pPr>
            <a:r>
              <a:rPr sz="2325" b="1">
                <a:solidFill>
                  <a:srgbClr val="9C402E"/>
                </a:solidFill>
                <a:latin typeface="Times New Roman"/>
                <a:ea typeface="SimSun"/>
                <a:cs typeface="Times New Roman"/>
              </a:rPr>
              <a:t>后续数值研究</a:t>
            </a:r>
          </a:p>
        </p:txBody>
      </p:sp>
      <p:sp>
        <p:nvSpPr>
          <p:cNvPr id="7" name="局部耦合误差有多大，单元近似在哪些区域适用？&#10;如何减少校准后">
            <a:extLst xmlns:a="http://schemas.openxmlformats.org/drawingml/2006/main">
              <a:ext uri="{FF2B5EF4-FFF2-40B4-BE49-F238E27FC236}">
                <a16:creationId xmlns:a16="http://schemas.microsoft.com/office/drawing/2014/main" id="{35CF2F76-5501-4284-BBAE-6C452F1C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0763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局部耦合误差有多大，单元近似在哪些区域适用？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如何减少校准后的剩余误码，同时保留独立测试？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75" b="0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在公开代码和观测条件下，信息还能保护到什么程度？</a:t>
            </a:r>
          </a:p>
        </p:txBody>
      </p:sp>
      <p:sp>
        <p:nvSpPr>
          <p:cNvPr id="8" name="现场备用：双击“静态回放.html”，直接查看归档案例。">
            <a:extLst xmlns:a="http://schemas.openxmlformats.org/drawingml/2006/main">
              <a:ext uri="{FF2B5EF4-FFF2-40B4-BE49-F238E27FC236}">
                <a16:creationId xmlns:a16="http://schemas.microsoft.com/office/drawing/2014/main" id="{898C975C-B6D0-4411-8810-4818D753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387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defRPr>
            </a:pP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现场备用：双击“静态回放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.html</a:t>
            </a:r>
            <a:r>
              <a:rPr sz="2100" b="1">
                <a:solidFill>
                  <a:srgbClr val="25352F"/>
                </a:solidFill>
                <a:latin typeface="Times New Roman"/>
                <a:ea typeface="SimSun"/>
                <a:cs typeface="Times New Roman"/>
              </a:rPr>
              <a:t>”，直接查看归档案例。</a:t>
            </a:r>
          </a:p>
        </p:txBody>
      </p:sp>
      <p:sp>
        <p:nvSpPr>
          <p:cNvPr id="9" name="无需联网或重新运行 FDTD。展示成功与科研验收分别记录。">
            <a:extLst xmlns:a="http://schemas.openxmlformats.org/drawingml/2006/main">
              <a:ext uri="{FF2B5EF4-FFF2-40B4-BE49-F238E27FC236}">
                <a16:creationId xmlns:a16="http://schemas.microsoft.com/office/drawing/2014/main" id="{E2B0737D-78F1-4276-973C-2B2CE50F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defPPr>
            <a:lvl1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1pPr>
            <a:lvl2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2pPr>
            <a:lvl3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3pPr>
            <a:lvl4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4pPr>
            <a:lvl5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5pPr>
            <a:lvl6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6pPr>
            <a:lvl7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7pPr>
            <a:lvl8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8pPr>
            <a:lvl9pPr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defRPr>
            </a:pPr>
            <a:r>
              <a: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无需联网或重新运行</a:t>
            </a:r>
            <a:r>
              <a: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 FDTD</a:t>
            </a:r>
            <a:r>
              <a:rPr sz="1800" b="0">
                <a:solidFill>
                  <a:srgbClr val="65716A"/>
                </a:solidFill>
                <a:latin typeface="Times New Roman"/>
                <a:ea typeface="SimSun"/>
                <a:cs typeface="Times New Roman"/>
              </a:rPr>
              <a:t>。展示成功与科研验收分别记录。</a:t>
            </a:r>
          </a:p>
        </p:txBody>
      </p:sp>
    </p:spTree>
    <p:extLst>
      <p:ext uri="{BB962C8B-B14F-4D97-AF65-F5344CB8AC3E}">
        <p14:creationId xmlns:p14="http://schemas.microsoft.com/office/powerpoint/2010/main" val="11600547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2026-10-30T05:05:28.1590000Z</dcterms:created>
  <dcterms:modified xsi:type="dcterms:W3CDTF">2026-10-30T05:05:28.1590000Z</dcterms:modified>
</coreProperties>
</file>